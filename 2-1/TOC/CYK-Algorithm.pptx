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E7B2AD-1D6E-49A1-B7EA-1BB2C516DC4B}">
  <a:tblStyle styleId="{AEE7B2AD-1D6E-49A1-B7EA-1BB2C516DC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3" name="Google Shape;2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1" name="Google Shape;27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7" name="Google Shape;30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CYK Algorithm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CYK Algorithm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304800" y="14478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1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membership problem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context-free grammar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 string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(V,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,P , S) where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4" marL="2057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finite set of variables</a:t>
            </a:r>
            <a:endParaRPr/>
          </a:p>
          <a:p>
            <a:pPr indent="-228600" lvl="4" marL="2057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∑ (the alphabet) finite set of terminal symbols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4" marL="2057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finite set of rules</a:t>
            </a:r>
            <a:endParaRPr/>
          </a:p>
          <a:p>
            <a:pPr indent="-228600" lvl="4" marL="2057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start symbol (distinguished element of V)</a:t>
            </a:r>
            <a:endParaRPr/>
          </a:p>
          <a:p>
            <a:pPr indent="-228600" lvl="4" marL="2057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and ∑ are assumed to be disjoint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generate the string of a language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)?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CYK Algorithm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J. </a:t>
            </a: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ocke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</a:t>
            </a: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ounger,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asami </a:t>
            </a:r>
            <a:endParaRPr/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Independently developed an algorithm to answer this question.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CYK Algorithm Basics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the rules in a Chomsky Normal Form grammar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 “dynamic programming” or “table-filling algorithm”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Chomsky Normal Form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1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Form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described by a set of conditions that each rule in the grammar must satisfy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Context-free grammar is in CNF if each rule has one of the following forms: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BC	at most 2 symbols on right side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a, or	terminal symbol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λ		null string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B, C   Є  V – {S}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Triangular Table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row corresponds to one length of substrings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 Row – Strings of length 1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from Bottom Row – Strings of length 2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Row – string ‘w’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Triangular Table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i, i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set of variables A such that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 🡪 w</a:t>
            </a:r>
            <a:r>
              <a:rPr b="0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production of 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at most n pairs of previously computed sets: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i, i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i+1, j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(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i, i+1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i+2, j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… (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i, j-1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j, j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Triangular Table</a:t>
            </a:r>
            <a:endParaRPr/>
          </a:p>
        </p:txBody>
      </p:sp>
      <p:graphicFrame>
        <p:nvGraphicFramePr>
          <p:cNvPr id="138" name="Google Shape;138;p20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6C0A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E46C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 cap="none" strike="noStrike">
                          <a:solidFill>
                            <a:srgbClr val="E46C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</a:t>
                      </a: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</a:t>
                      </a: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4, 4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w1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w2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w4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w5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39" name="Google Shape;139;p20"/>
          <p:cNvSpPr txBox="1"/>
          <p:nvPr/>
        </p:nvSpPr>
        <p:spPr>
          <a:xfrm>
            <a:off x="685800" y="5181600"/>
            <a:ext cx="5492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for string ‘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that has  length 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21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6C0A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E46C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E46C0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</a:t>
                      </a: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</a:t>
                      </a: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4, 4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w1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w2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w4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w5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46" name="Google Shape;146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Triangular Table</a:t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685800" y="5181600"/>
            <a:ext cx="43513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Looking for pairs to compare</a:t>
            </a:r>
            <a:endParaRPr/>
          </a:p>
        </p:txBody>
      </p:sp>
      <p:cxnSp>
        <p:nvCxnSpPr>
          <p:cNvPr id="148" name="Google Shape;148;p21"/>
          <p:cNvCxnSpPr/>
          <p:nvPr/>
        </p:nvCxnSpPr>
        <p:spPr>
          <a:xfrm rot="-5400000">
            <a:off x="230187" y="2971800"/>
            <a:ext cx="1979612" cy="1587"/>
          </a:xfrm>
          <a:prstGeom prst="straightConnector1">
            <a:avLst/>
          </a:prstGeom>
          <a:noFill/>
          <a:ln cap="flat" cmpd="sng" w="57150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49" name="Google Shape;149;p21"/>
          <p:cNvSpPr/>
          <p:nvPr/>
        </p:nvSpPr>
        <p:spPr>
          <a:xfrm>
            <a:off x="1143000" y="1752600"/>
            <a:ext cx="304800" cy="228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21"/>
          <p:cNvCxnSpPr/>
          <p:nvPr/>
        </p:nvCxnSpPr>
        <p:spPr>
          <a:xfrm>
            <a:off x="1524000" y="1905000"/>
            <a:ext cx="5943600" cy="1905000"/>
          </a:xfrm>
          <a:prstGeom prst="straightConnector1">
            <a:avLst/>
          </a:prstGeom>
          <a:noFill/>
          <a:ln cap="flat" cmpd="sng" w="57150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51" name="Google Shape;151;p21"/>
          <p:cNvCxnSpPr/>
          <p:nvPr/>
        </p:nvCxnSpPr>
        <p:spPr>
          <a:xfrm rot="-5400000">
            <a:off x="1104900" y="2476500"/>
            <a:ext cx="1676400" cy="1295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52" name="Google Shape;152;p21"/>
          <p:cNvCxnSpPr/>
          <p:nvPr/>
        </p:nvCxnSpPr>
        <p:spPr>
          <a:xfrm flipH="1" rot="10800000">
            <a:off x="1295400" y="2895600"/>
            <a:ext cx="3048000" cy="6096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53" name="Google Shape;153;p21"/>
          <p:cNvCxnSpPr/>
          <p:nvPr/>
        </p:nvCxnSpPr>
        <p:spPr>
          <a:xfrm>
            <a:off x="1371600" y="2895600"/>
            <a:ext cx="46482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54" name="Google Shape;154;p21"/>
          <p:cNvCxnSpPr/>
          <p:nvPr/>
        </p:nvCxnSpPr>
        <p:spPr>
          <a:xfrm>
            <a:off x="1295400" y="2286000"/>
            <a:ext cx="6096000" cy="17526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CYK Algorithm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the CYK Algorithm with the following 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CNF grammar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AB | BC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BA | a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🡪 CC | b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🡪 AB | 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baaba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Is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baaba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L(G)?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168" name="Google Shape;168;p23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69" name="Google Shape;169;p23"/>
          <p:cNvSpPr txBox="1"/>
          <p:nvPr/>
        </p:nvSpPr>
        <p:spPr>
          <a:xfrm>
            <a:off x="914400" y="5257800"/>
            <a:ext cx="3886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the Bottom ROW</a:t>
            </a:r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4953000" y="1371600"/>
            <a:ext cx="2743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AB | 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BA | </a:t>
            </a: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CC | </a:t>
            </a: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AB | </a:t>
            </a: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1 , 2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1 , 1   ,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2 , 2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{B}{A,C} = {BA, BC}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production rules to generate BA or BC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two: S and 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1 , 2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{S, A}</a:t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5867400" y="4572000"/>
            <a:ext cx="2971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AB | </a:t>
            </a: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BA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🡪 CC | 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🡪 AB | 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185" name="Google Shape;185;p25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2 , 3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2 , 2  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3 , 3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{A, C}{A,C} = {AA, AC, CA, CC} = 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production rules to generate 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one: 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2 , 3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{B}</a:t>
            </a:r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5867400" y="4343400"/>
            <a:ext cx="2971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AB | 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BA | 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480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</a:t>
            </a: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🡪 AB | 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200" name="Google Shape;200;p27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3 , 4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3 , 3  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4 , 4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{A, C}{B} = {AB, CB} = 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production rules to generate 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two: S and 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3 , 4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{S, C}</a:t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5867400" y="4343400"/>
            <a:ext cx="2971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480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BA | 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B 🡪 CC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480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215" name="Google Shape;215;p29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4 , 5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4 , 4  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5 , 5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{B}{A, C} = {BA, BC} = 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production rules to generate 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two: S and 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4 , 5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{S, A}</a:t>
            </a:r>
            <a:endParaRPr/>
          </a:p>
        </p:txBody>
      </p:sp>
      <p:sp>
        <p:nvSpPr>
          <p:cNvPr id="223" name="Google Shape;223;p30"/>
          <p:cNvSpPr txBox="1"/>
          <p:nvPr/>
        </p:nvSpPr>
        <p:spPr>
          <a:xfrm>
            <a:off x="5867400" y="4343400"/>
            <a:ext cx="2971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480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480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BA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B 🡪 CC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230" name="Google Shape;230;p31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sp>
        <p:nvSpPr>
          <p:cNvPr id="237" name="Google Shape;237;p32"/>
          <p:cNvSpPr txBox="1"/>
          <p:nvPr>
            <p:ph idx="1" type="body"/>
          </p:nvPr>
        </p:nvSpPr>
        <p:spPr>
          <a:xfrm>
            <a:off x="457200" y="1600200"/>
            <a:ext cx="84582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1 , 3 	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i+1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i+2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= (X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1 , 1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2 , 3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, (X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1 , 2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3 , 3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{B}{B}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{S, A}{A, C}= {BB, SA, SC, AA, AC} = 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production rules to generate 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NONE: S and 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1 , 3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Ø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elements in this set (empty set)</a:t>
            </a:r>
            <a:endParaRPr/>
          </a:p>
        </p:txBody>
      </p:sp>
      <p:sp>
        <p:nvSpPr>
          <p:cNvPr id="238" name="Google Shape;238;p32"/>
          <p:cNvSpPr txBox="1"/>
          <p:nvPr/>
        </p:nvSpPr>
        <p:spPr>
          <a:xfrm>
            <a:off x="5867400" y="4343400"/>
            <a:ext cx="2971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AB | 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BA | 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B 🡪 CC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245" name="Google Shape;245;p33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457200" y="1600200"/>
            <a:ext cx="84582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2 , 4 	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i+1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i+2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= (X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2 , 2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3 , 4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, (X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2 , 3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4 , 4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{A, C}{S, C}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{B}{B}= {AS, AC, CS, CC, BB} = 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production rules to generate 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one: 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2 , 4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{B}</a:t>
            </a:r>
            <a:endParaRPr/>
          </a:p>
        </p:txBody>
      </p:sp>
      <p:sp>
        <p:nvSpPr>
          <p:cNvPr id="253" name="Google Shape;253;p34"/>
          <p:cNvSpPr txBox="1"/>
          <p:nvPr/>
        </p:nvSpPr>
        <p:spPr>
          <a:xfrm>
            <a:off x="5867400" y="4343400"/>
            <a:ext cx="2971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AB | 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BA | 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480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260" name="Google Shape;260;p35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sp>
        <p:nvSpPr>
          <p:cNvPr id="267" name="Google Shape;267;p36"/>
          <p:cNvSpPr txBox="1"/>
          <p:nvPr>
            <p:ph idx="1" type="body"/>
          </p:nvPr>
        </p:nvSpPr>
        <p:spPr>
          <a:xfrm>
            <a:off x="457200" y="1600200"/>
            <a:ext cx="84582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3 , 5 	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i+1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, i+1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i+2 , j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= (X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3 , 3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4 , 5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, (X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3 , 4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5 , 5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{A,C}{S,A}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{S,C}{A,C}	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= {AS, AA, CS, CA, SA, SC, CA, CC} = 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production rules to generate 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one: 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3 , 5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{B}</a:t>
            </a:r>
            <a:endParaRPr/>
          </a:p>
        </p:txBody>
      </p:sp>
      <p:sp>
        <p:nvSpPr>
          <p:cNvPr id="268" name="Google Shape;268;p36"/>
          <p:cNvSpPr txBox="1"/>
          <p:nvPr/>
        </p:nvSpPr>
        <p:spPr>
          <a:xfrm>
            <a:off x="6172200" y="4876800"/>
            <a:ext cx="2971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AB | BC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BA | a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480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984807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b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</a:t>
            </a:r>
            <a:r>
              <a:rPr b="0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Constructing The Triangular Table</a:t>
            </a:r>
            <a:endParaRPr/>
          </a:p>
        </p:txBody>
      </p:sp>
      <p:graphicFrame>
        <p:nvGraphicFramePr>
          <p:cNvPr id="275" name="Google Shape;275;p37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Triangular Table</a:t>
            </a:r>
            <a:endParaRPr/>
          </a:p>
        </p:txBody>
      </p:sp>
      <p:graphicFrame>
        <p:nvGraphicFramePr>
          <p:cNvPr id="282" name="Google Shape;282;p38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{AEE7B2AD-1D6E-49A1-B7EA-1BB2C516DC4B}</a:tableStyleId>
              </a:tblPr>
              <a:tblGrid>
                <a:gridCol w="1646225"/>
                <a:gridCol w="1646225"/>
                <a:gridCol w="1644650"/>
                <a:gridCol w="1646225"/>
                <a:gridCol w="164622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🡨 X</a:t>
                      </a: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{S, A}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{A, C}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2800"/>
                        <a:buFont typeface="Calibri"/>
                        <a:buNone/>
                      </a:pPr>
                      <a:r>
                        <a:rPr b="1" baseline="-25000" i="0" lang="en-US" sz="2800" u="non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83" name="Google Shape;283;p38"/>
          <p:cNvSpPr txBox="1"/>
          <p:nvPr/>
        </p:nvSpPr>
        <p:spPr>
          <a:xfrm>
            <a:off x="685800" y="5181600"/>
            <a:ext cx="682783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Table for string ‘</a:t>
            </a: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that has  length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algorithm populates the triangular table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(Result)</a:t>
            </a:r>
            <a:endParaRPr/>
          </a:p>
        </p:txBody>
      </p:sp>
      <p:sp>
        <p:nvSpPr>
          <p:cNvPr id="290" name="Google Shape;290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baaba in L(G)?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see the S in the set X</a:t>
            </a:r>
            <a:r>
              <a:rPr b="0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1n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where ‘n’ = 5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see the table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cell X</a:t>
            </a:r>
            <a:r>
              <a:rPr b="0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(S, A, C) then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  Є  X</a:t>
            </a:r>
            <a:r>
              <a:rPr b="1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then baaba  Є  L(G)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</a:t>
            </a:r>
            <a:endParaRPr/>
          </a:p>
        </p:txBody>
      </p:sp>
      <p:sp>
        <p:nvSpPr>
          <p:cNvPr id="297" name="Google Shape;297;p4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CYK Algorithm correctly computes X </a:t>
            </a:r>
            <a:r>
              <a:rPr b="0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j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all i and j; thus w is in L(G) if and only if S is in X</a:t>
            </a:r>
            <a:r>
              <a:rPr b="0" baseline="-25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1n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running time of the algorithm is O(n</a:t>
            </a:r>
            <a:r>
              <a:rPr b="0" baseline="3000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304" name="Google Shape;304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J. E. Hopcroft, R. Motwani, J. D. Ullman, </a:t>
            </a:r>
            <a:r>
              <a:rPr b="0" i="1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Automata Theory, Languages and Computation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Second Edition, Addison Wesley, 2001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T.A. Sudkamp, An Introduction to the Theory of Computer Science Languages and Machines, Third Edition, Addison Wesley, 2006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</p:txBody>
      </p:sp>
      <p:sp>
        <p:nvSpPr>
          <p:cNvPr id="311" name="Google Shape;311;p4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the CYK Algorithm with the following example: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CNF grammar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🡪 AB | BC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🡪 BA | a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🡪 CC | b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🡪 AB | a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ababa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Is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ababa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L(G)?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Basics of CYK Algorithm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the rules in a Chomsky Normal Form grammar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 “dynamic programming” or “table-filling algorithm” 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Complexity O(n3)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